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8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  <p:sldId id="279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星屿 StarIsle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DC4E8"/>
                </a:solidFill>
                <a:latin typeface="微软雅黑" panose="020B0503020204020204" charset="-122"/>
              </a:defRPr>
            </a:pPr>
            <a:r>
              <a:t>青少年心理健康 AI 陪伴应用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0C4DE"/>
                </a:solidFill>
                <a:latin typeface="微软雅黑" panose="020B0503020204020204" charset="-122"/>
              </a:defRPr>
            </a:pPr>
            <a:r>
              <a:t>项目答辩报告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99B0"/>
                </a:solidFill>
                <a:latin typeface="微软雅黑" panose="020B0503020204020204" charset="-122"/>
              </a:defRPr>
            </a:pPr>
            <a:r>
              <a:t>版本：MVP 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8213" y="5486400"/>
            <a:ext cx="774509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07088"/>
                </a:solidFill>
                <a:latin typeface="微软雅黑" panose="020B0503020204020204" charset="-122"/>
              </a:defRPr>
            </a:pPr>
            <a:r>
              <a:rPr lang="zh-CN"/>
              <a:t>报告小组：</a:t>
            </a:r>
            <a:r>
              <a:rPr lang="en-US" altLang="zh-CN"/>
              <a:t>CS-1</a:t>
            </a:r>
            <a:r>
              <a:rPr lang="zh-CN" altLang="en-US"/>
              <a:t>组</a:t>
            </a:r>
            <a:r>
              <a:rPr lang="en-US" altLang="zh-CN"/>
              <a:t> </a:t>
            </a:r>
            <a:r>
              <a:rPr lang="zh-CN"/>
              <a:t>报告人：陈尹涛</a:t>
            </a:r>
            <a:r>
              <a:t>  |</a:t>
            </a:r>
            <a:r>
              <a:rPr lang="en-US"/>
              <a:t>  </a:t>
            </a:r>
            <a:r>
              <a:rPr lang="zh-CN" altLang="en-US"/>
              <a:t>学号：</a:t>
            </a:r>
            <a:r>
              <a:rPr lang="en-US" altLang="zh-CN"/>
              <a:t>2540144243</a:t>
            </a:r>
            <a:r>
              <a:t>  |  指导老师</a:t>
            </a:r>
            <a:r>
              <a:rPr lang="zh-CN"/>
              <a:t>：陈文渊老师</a:t>
            </a:r>
            <a:r>
              <a:t>  |  </a:t>
            </a:r>
            <a:r>
              <a:rPr lang="en-US"/>
              <a:t>2026.07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custDataLst>
              <p:tags r:id="rId1"/>
            </p:custDataLst>
          </p:nvPr>
        </p:nvSpPr>
        <p:spPr>
          <a:xfrm>
            <a:off x="1097280" y="1371600"/>
            <a:ext cx="594360" cy="59436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2011680" y="138988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011680" y="17190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项目背景、目标、用户与版本历程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057400"/>
            <a:ext cx="8686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>
            <p:custDataLst>
              <p:tags r:id="rId4"/>
            </p:custDataLst>
          </p:nvPr>
        </p:nvSpPr>
        <p:spPr>
          <a:xfrm>
            <a:off x="1097280" y="2212848"/>
            <a:ext cx="594360" cy="59436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2011680" y="223113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2011680" y="2560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整体架构、前后端技术栈、AI引擎、安全合规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898648"/>
            <a:ext cx="8686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>
            <p:custDataLst>
              <p:tags r:id="rId7"/>
            </p:custDataLst>
          </p:nvPr>
        </p:nvSpPr>
        <p:spPr>
          <a:xfrm>
            <a:off x="1097280" y="3054096"/>
            <a:ext cx="594360" cy="59436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011680" y="307238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核心功能展示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2011680" y="34015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学生端、教师端、家长端、风险检测、API设计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739896"/>
            <a:ext cx="8686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>
            <p:custDataLst>
              <p:tags r:id="rId10"/>
            </p:custDataLst>
          </p:nvPr>
        </p:nvSpPr>
        <p:spPr>
          <a:xfrm>
            <a:off x="1097280" y="3895344"/>
            <a:ext cx="594360" cy="59436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2011680" y="39136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项目亮点与难点分析</a:t>
            </a: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2011680" y="424281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亮点总结、技术难点与解决方案、工程挑战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581144"/>
            <a:ext cx="8686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>
            <p:custDataLst>
              <p:tags r:id="rId13"/>
            </p:custDataLst>
          </p:nvPr>
        </p:nvSpPr>
        <p:spPr>
          <a:xfrm>
            <a:off x="1097280" y="4736592"/>
            <a:ext cx="594360" cy="59436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2011680" y="4754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测试与部署</a:t>
            </a: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2011680" y="508406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测试策略、部署方案、CI/CD流程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5422392"/>
            <a:ext cx="8686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16"/>
            </p:custDataLst>
          </p:nvPr>
        </p:nvSpPr>
        <p:spPr>
          <a:xfrm>
            <a:off x="1097280" y="5577840"/>
            <a:ext cx="594360" cy="59436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>
            <p:custDataLst>
              <p:tags r:id="rId17"/>
            </p:custDataLst>
          </p:nvPr>
        </p:nvSpPr>
        <p:spPr>
          <a:xfrm>
            <a:off x="2011680" y="55961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未来迭代规划</a:t>
            </a:r>
          </a:p>
        </p:txBody>
      </p:sp>
      <p:sp>
        <p:nvSpPr>
          <p:cNvPr id="29" name="TextBox 28"/>
          <p:cNvSpPr txBox="1"/>
          <p:nvPr>
            <p:custDataLst>
              <p:tags r:id="rId18"/>
            </p:custDataLst>
          </p:nvPr>
        </p:nvSpPr>
        <p:spPr>
          <a:xfrm>
            <a:off x="2011680" y="592531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迭代路线图、长期愿景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</a:t>
            </a:r>
            <a:r>
              <a:rPr lang="zh-CN"/>
              <a:t>：根本项目愿景</a:t>
            </a:r>
            <a:endParaRPr lang="zh-CN"/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3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矩形 15"/>
          <p:cNvSpPr/>
          <p:nvPr/>
        </p:nvSpPr>
        <p:spPr>
          <a:xfrm>
            <a:off x="457200" y="1273810"/>
            <a:ext cx="500761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从一个故事说起</a:t>
            </a:r>
            <a:r>
              <a:rPr lang="en-US" altLang="zh-CN" sz="44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......</a:t>
            </a:r>
            <a:endParaRPr lang="en-US" altLang="zh-CN" sz="44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6115" y="2343785"/>
            <a:ext cx="50977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一个热爱计算机的</a:t>
            </a:r>
            <a:r>
              <a:rPr lang="zh-CN" altLang="en-US"/>
              <a:t>孩子，</a:t>
            </a:r>
            <a:endParaRPr lang="zh-CN" altLang="en-US"/>
          </a:p>
          <a:p>
            <a:r>
              <a:rPr lang="zh-CN" altLang="en-US"/>
              <a:t>曾经受到了校园</a:t>
            </a:r>
            <a:r>
              <a:rPr lang="zh-CN" altLang="en-US"/>
              <a:t>欺凌，</a:t>
            </a:r>
            <a:endParaRPr lang="zh-CN" altLang="en-US"/>
          </a:p>
          <a:p>
            <a:r>
              <a:rPr lang="zh-CN" altLang="en-US"/>
              <a:t>他被欺负了但是不敢告诉老师和</a:t>
            </a:r>
            <a:r>
              <a:rPr lang="zh-CN" altLang="en-US"/>
              <a:t>爸爸妈妈。</a:t>
            </a:r>
            <a:endParaRPr lang="zh-CN" altLang="en-US"/>
          </a:p>
          <a:p>
            <a:r>
              <a:rPr lang="zh-CN" altLang="en-US"/>
              <a:t>即使是转了学之后他的经历</a:t>
            </a:r>
            <a:r>
              <a:rPr lang="en-US" altLang="zh-CN"/>
              <a:t> </a:t>
            </a:r>
            <a:r>
              <a:rPr lang="zh-CN" altLang="en-US"/>
              <a:t>还是</a:t>
            </a:r>
            <a:r>
              <a:rPr lang="zh-CN" altLang="en-US"/>
              <a:t>耿耿于怀，</a:t>
            </a:r>
            <a:endParaRPr lang="zh-CN" altLang="en-US"/>
          </a:p>
          <a:p>
            <a:r>
              <a:rPr lang="zh-CN" altLang="en-US"/>
              <a:t>于是</a:t>
            </a:r>
            <a:r>
              <a:rPr lang="zh-CN" altLang="en-US"/>
              <a:t>乎，</a:t>
            </a:r>
            <a:endParaRPr lang="zh-CN" altLang="en-US"/>
          </a:p>
          <a:p>
            <a:r>
              <a:rPr lang="zh-CN" altLang="en-US"/>
              <a:t>一个小小的梦想从他的心中</a:t>
            </a:r>
            <a:r>
              <a:rPr lang="zh-CN" altLang="en-US"/>
              <a:t>悄然而生：</a:t>
            </a:r>
            <a:endParaRPr lang="zh-CN" altLang="en-US"/>
          </a:p>
          <a:p>
            <a:r>
              <a:rPr lang="zh-CN" altLang="en-US"/>
              <a:t>希望像他一样的</a:t>
            </a:r>
            <a:r>
              <a:rPr lang="zh-CN" altLang="en-US"/>
              <a:t>人，</a:t>
            </a:r>
            <a:endParaRPr lang="zh-CN" altLang="en-US"/>
          </a:p>
          <a:p>
            <a:r>
              <a:rPr lang="zh-CN" altLang="en-US"/>
              <a:t>被欺负了之后能够</a:t>
            </a:r>
            <a:r>
              <a:rPr lang="en-US" altLang="zh-CN"/>
              <a:t>“</a:t>
            </a:r>
            <a:r>
              <a:rPr lang="zh-CN" altLang="en-US">
                <a:sym typeface="+mn-ea"/>
              </a:rPr>
              <a:t>说出来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换一句话说：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324600" y="3149600"/>
            <a:ext cx="4571365" cy="17386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让心理异常有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“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难言之隐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”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的孩子</a:t>
            </a: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有话可说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endParaRPr lang="en-US" altLang="zh-CN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9620" y="5365115"/>
            <a:ext cx="3945255" cy="909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于是，</a:t>
            </a:r>
            <a:r>
              <a:rPr lang="en-US" altLang="zh-CN" sz="2800"/>
              <a:t>“</a:t>
            </a:r>
            <a:r>
              <a:rPr lang="zh-CN" altLang="en-US" sz="2800"/>
              <a:t>星屿（</a:t>
            </a:r>
            <a:r>
              <a:rPr lang="en-US" altLang="zh-CN" sz="2800"/>
              <a:t>StarIsle</a:t>
            </a:r>
            <a:r>
              <a:rPr lang="zh-CN" altLang="en-US" sz="2800"/>
              <a:t>）</a:t>
            </a:r>
            <a:r>
              <a:rPr lang="en-US" altLang="zh-CN" sz="2800"/>
              <a:t>”</a:t>
            </a:r>
            <a:r>
              <a:rPr lang="zh-CN" altLang="en-US" sz="2800"/>
              <a:t>营运而生</a:t>
            </a:r>
            <a:endParaRPr lang="zh-C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3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5303520" cy="237744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640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青少年心理健康现状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640080" y="17830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12-18岁群体心理问题日益突出，焦虑抑郁比例上升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专业心理咨询师资源匮乏，师生比严重不足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学生对传统心理咨询存在病耻感和抵触心理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早期情绪干预缺失，问题往往积累至危机才被发现</a:t>
            </a: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6217920" y="1280160"/>
            <a:ext cx="5303520" cy="2377440"/>
          </a:xfrm>
          <a:prstGeom prst="roundRect">
            <a:avLst/>
          </a:prstGeom>
          <a:solidFill>
            <a:srgbClr val="FEF5E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40080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核心痛点分析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400800" y="17830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求助门槛高：面对面咨询心理压力大，预约流程复杂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隐私顾虑：担心个人信息泄露，不愿主动求助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家校信息不对称：家长/教师无法及时了解学生情绪状态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缺乏持续性支持：传统咨询受限于时间和地点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06424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项目定位：AI 情绪成长伙伴 —— 零压力的第一心理求助站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「你的情绪星球，永远亮着灯」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项目目标与 MVP 验证指标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GOALS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4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029200" cy="219456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核心目标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为学生提供 24/7 零压力的情绪支持与 AI 对话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为教师提供心理守护协同工作台与风险预警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为家长提供孩子情绪状态查看与 AI 心理咨询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实现家校共育的心理健康守护闭环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37160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验证指标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7日留存率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&gt; 30%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30日留存率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&gt; 15%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日均心情打卡率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&gt; 40%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用户NPS（净推荐值）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&gt; 40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高风险热线触达率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&gt; 80%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验证策略说明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采用 MVP（最小可行产品）策略，先验证核心假设再逐步扩展功能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通过留存率和活跃度指标验证产品价值，通过 NPS 验证用户满意度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高风险热线触达率确保安全底线：危机情况下能够及时触达专业资源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目标用户与使用场景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TARGET USERS &amp;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5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3474720" cy="32004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2"/>
            </p:custDataLst>
          </p:nvPr>
        </p:nvSpPr>
        <p:spPr>
          <a:xfrm>
            <a:off x="457200" y="1280160"/>
            <a:ext cx="3474720" cy="7315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学生端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31520" y="2103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12-18岁初高中生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731520" y="2560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匿名注册，保护隐私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日常心情打卡与记录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AI星宝24/7对话疏导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情绪测评与冥想放松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4297680" y="1280160"/>
            <a:ext cx="3474720" cy="32004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297680" y="1280160"/>
            <a:ext cx="3474720" cy="7315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教师端</a:t>
            </a: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4572000" y="2103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班主任/心理教师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572000" y="2560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工作台概览与风险告警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学生情绪趋势查看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症状反馈与上报处理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对话观察与介入干预</a:t>
            </a: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8138160" y="1280160"/>
            <a:ext cx="3474720" cy="32004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8138160" y="1280160"/>
            <a:ext cx="3474720" cy="73152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家长端</a:t>
            </a:r>
            <a:r>
              <a:rPr lang="zh-CN"/>
              <a:t>（正在</a:t>
            </a:r>
            <a:r>
              <a:rPr lang="zh-CN"/>
              <a:t>开发）</a:t>
            </a:r>
            <a:endParaRPr lang="zh-CN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8412480" y="2103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学生家长/监护人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412480" y="2560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孩子情绪状态查看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AI心理顾问（大星）对话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情绪趋势分析（7/30/90天）</a:t>
            </a:r>
          </a:p>
          <a:p>
            <a:pPr>
              <a:lnSpc>
                <a:spcPts val="1800"/>
              </a:lnSpc>
              <a:spcAft>
                <a:spcPts val="5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应急预案与知识库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核心使用场景流程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日常心情打卡  →  AI 对话疏导  →  风险检测预警  →  教师介入干预  →  家长协同关注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版本演进历程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VERSION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6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37160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2026-06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MVP 核心功能验证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Flutter 学生端/教师端基础功能、Go 后端 API、Python AI 引擎初版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1920240"/>
            <a:ext cx="27432" cy="5943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37160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60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2026-07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本地存储与 AI 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80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本地记忆存储管理系统、AI 服务深度集成、数据加密存储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6152" y="3063240"/>
            <a:ext cx="27432" cy="5943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37160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03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2026-07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57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后端迁移至 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23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Spring Boot 3.2 重构后端、统一服务层、编译路径修复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6152" y="4206240"/>
            <a:ext cx="27432" cy="5943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1371600" cy="54864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v1.3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846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2026-07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Web 前端三端实现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166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React+TS Web 前端、家长端功能上线、多角色统一入口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累计 31 次提交  |  3 周迭代周期  |  2 位开发者协作  |  4 个主要版本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系统整体架构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7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011680" cy="91440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客户端层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80160"/>
            <a:ext cx="8961120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Flutter 3.x（学生端/教师端原生App）  |  React 18 + TypeScript（Web 前端三端）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1325880" y="2212848"/>
            <a:ext cx="274320" cy="22860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2011680" cy="9144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网关层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8961120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Nginx 反向代理  |  SSL/TLS 终止  |  负载均衡  |  CORS 跨域处理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325880" y="3401568"/>
            <a:ext cx="274320" cy="22860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01168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657600"/>
            <a:ext cx="8961120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Spring Boot 3.2（REST API + WebSocket）  |  Python AI 引擎（对话/情绪分析/风险检测）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325880" y="4590288"/>
            <a:ext cx="274320" cy="22860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2011680" cy="914400"/>
          </a:xfrm>
          <a:prstGeom prst="roundRect">
            <a:avLst/>
          </a:prstGeom>
          <a:solidFill>
            <a:srgbClr val="55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846320"/>
            <a:ext cx="8961120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553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PostgreSQL（业务数据）  |  MongoDB（对话记录）  |  Redis（缓存/会话）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四层分离架构：客户端多样接入 → 网关统一入口 → 服务层业务处理 → 数据层持久化存储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前端技术栈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FRONTEND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8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292608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Web 前端（React）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框架：React 18.3.1 + TypeScript 5.8.3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构建工具：Vite 6.3.5（极速热更新）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状态管理：Zustand（轻量级）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路由：React Router DOM 7.3.0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样式：TailwindCSS 3.4.17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图标：Lucide React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三端统一入口：学生/教师/家长角色切换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2926080"/>
          </a:xfrm>
          <a:prstGeom prst="roundRect">
            <a:avLst/>
          </a:prstGeom>
          <a:solidFill>
            <a:srgbClr val="EBF8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7C7C"/>
                </a:solidFill>
                <a:latin typeface="微软雅黑" panose="020B0503020204020204" charset="-122"/>
              </a:defRPr>
            </a:pPr>
            <a:r>
              <a:t>原生前端（Flutter）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框架：Flutter 3.x（跨平台 iOS/Android）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状态管理：Riverpod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加密：AES-256-GCM + SQLCipher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实时通信：WebSocket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本地数据库：sqflite_sqlcipher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后台任务：Workmanager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密钥管理：Flutter Secure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双前端架构选型理由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Web 前端：快速开发、跨平台访问、便于家长端轻量化使用，无需安装 App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原生前端：保障数据本地加密存储、离线可用性、推送通知，适合学生日常高频使用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两者共用后端 API，通过角色权限区分功能，实现代码复用与体验优化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后端技术栈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BACKEND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9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256032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Java 后端服务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框架：Spring Boot 3.2.5 + Java 21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Web：Spring Web + WebSocket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数据访问：Spring Data JPA + MongoDB Driver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认证：JWT（Json Web Token）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缓存：Redis（Jedis 客户端）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构建：Maven 3.8+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加密：AES-256-GCM 工具类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2560320"/>
          </a:xfrm>
          <a:prstGeom prst="roundRect">
            <a:avLst/>
          </a:prstGeom>
          <a:solidFill>
            <a:srgbClr val="FEF5E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PostgreSQL 14+：用户、心情、测评等核心业务数据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MongoDB 6.0+：AI 对话记录（灵活文档结构）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Redis 7.0+：会话缓存、热点数据、实时状态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消息队列：Kafka/RabbitMQ（高并发对话场景）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数据分离策略：关系型/文档型/缓存各司其职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RESTful API 设计 — 7 大控制器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UserController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用户注册/查询/更新/删除/导出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663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ChatController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92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消息发送/历史/话题 + 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663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MoodController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892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心情打卡/历史/图表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663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RiskController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892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风险检测/等级查询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ContentController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冥想内容/呼吸练习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257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AssessmentController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486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测评题目/提交/结果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57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CE"/>
                </a:solidFill>
                <a:latin typeface="Consolas" panose="020B0609020204030204"/>
              </a:defRPr>
            </a:pPr>
            <a:r>
              <a:t>  HealthController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486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  服务健康检查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引擎设计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AI ENGINE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10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5303520" cy="2103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2"/>
            </p:custDataLst>
          </p:nvPr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对话模型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31520" y="1874520"/>
            <a:ext cx="4754880" cy="112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基于国产大模型微调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Qwen / DeepSeek 双模型支持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CBT 认知行为疗法框架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星宝（学生）/ 大星（家长</a:t>
            </a:r>
            <a:r>
              <a:rPr lang="en-US"/>
              <a:t>/</a:t>
            </a:r>
            <a:r>
              <a:rPr lang="zh-CN" altLang="en-US"/>
              <a:t>老师</a:t>
            </a:r>
            <a:r>
              <a:t>）</a:t>
            </a: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6126480" y="1280160"/>
            <a:ext cx="5303520" cy="2103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6126480" y="1280160"/>
            <a:ext cx="53035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情绪分析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400800" y="1874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BERT-based 文本分类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实时情绪状态识别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多维度情绪评分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情绪趋势追踪</a:t>
            </a: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457200" y="3657600"/>
            <a:ext cx="5303520" cy="2103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457200" y="3657600"/>
            <a:ext cx="5303520" cy="50292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风险检测</a:t>
            </a: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731520" y="42519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L1：关键词匹配检测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L2：语义分析深度检测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三级风险分级响应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危机热线自动推送</a:t>
            </a: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6126480" y="3657600"/>
            <a:ext cx="5303520" cy="2103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6126480" y="3657600"/>
            <a:ext cx="53035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安全过滤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6400800" y="42519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多层内容审核机制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输入/输出双向过滤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敏感词库动态管理</a:t>
            </a:r>
          </a:p>
          <a:p>
            <a:pPr>
              <a:lnSpc>
                <a:spcPts val="1800"/>
              </a:lnSpc>
              <a:spcAft>
                <a:spcPts val="3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未成年人保护策略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安全与合规体系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11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474720" cy="256032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传输安全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HTTPS / TLS 1.3 全程加密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AES-256-GCM 端到端加密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JWT 身份认证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CORS 跨域安全配置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280160"/>
            <a:ext cx="3474720" cy="256032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8988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存储安全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SQLCipher 本地加密存储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数据最小化采集原则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用户一键删除所有数据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Flutter Secure Storage 密钥管理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280160"/>
            <a:ext cx="3931920" cy="2560320"/>
          </a:xfrm>
          <a:prstGeom prst="roundRect">
            <a:avLst/>
          </a:prstGeom>
          <a:solidFill>
            <a:srgbClr val="FEF5E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389888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合规要求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7830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《个人信息保护法》合规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《未成年人网络保护条例》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《生成式AI服务管理暂行办法》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等保三级认证准备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安全设计原则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零信任架构：所有请求均需认证，不信任任何未经验证的访问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纵深防御：传输加密 + 存储加密 + 访问控制 + 内容审核多重保障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隐私优先：未成年人数据采集最小化，支持用户完全控制个人数据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安全可审计：关键操作日志记录，风险事件可追溯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核心功能 — 学生端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STUDENT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12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1732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匿名注册与隐私保护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无需真实身份信息，匿名注册机制保护学生隐私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63640" y="141732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极简心情打卡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190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5档表情选择，一键记录每日情绪状态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AI 星宝对话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535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基于CBT框架的AI对话，24/7情绪疏导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514600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3640" y="265176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06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情绪探索测评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535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PHQ-9抑郁量表映射，科学评估心理状态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886199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404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冥想放松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3-5个引导音频，帮助缓解焦虑压力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749039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63640" y="3886199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404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风险检测与危机响应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8795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实时检测高风险信号，自动触发危机干预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83480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512064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74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本地记忆存储管理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22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加密数据库存储、定时整理、存储监控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983480"/>
            <a:ext cx="5303520" cy="10515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63640" y="512064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74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AI 工具中心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422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文本生成、内容摘要、风格转换等实用工具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核心功能 — 教师端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TEACHER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13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68580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36192"/>
            <a:ext cx="320040" cy="3200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工作台概览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37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班级学生情绪状态全景视图，关键指标一目了然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76272"/>
            <a:ext cx="112471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340864"/>
            <a:ext cx="320040" cy="3200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942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高风险告警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4203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实时推送高风险学生预警，支持分级管理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80944"/>
            <a:ext cx="11247120" cy="68580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145536"/>
            <a:ext cx="320040" cy="3200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54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学生列表与情绪趋势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467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查看每位学生的情绪历史记录与趋势图表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85616"/>
            <a:ext cx="112471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950208"/>
            <a:ext cx="320040" cy="3200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587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症状反馈与上报处理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1376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记录学生症状反馈，生成上报流程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90288"/>
            <a:ext cx="11247120" cy="68580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754880"/>
            <a:ext cx="320040" cy="3200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63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对话观察与介入干预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5604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查看学生AI对话内容（授权后），必要时介入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60"/>
            <a:ext cx="112471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559552"/>
            <a:ext cx="320040" cy="3200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4681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本地记忆存储管理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607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教师端数据加密存储、定时整理与监控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核心功能 — 家长端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PARENT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14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105156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17320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孩子情绪状态查看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首页直观展示孩子当日情绪状态与打卡记录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303520" cy="105156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63640" y="1417320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AI 心理顾问（大星）对话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190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家长专属AI心理咨询师，解答育儿困惑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5303520" cy="105156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情绪趋势分析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535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7/30/90天多维度情绪趋势图表分析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514600"/>
            <a:ext cx="5303520" cy="105156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3640" y="2651760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06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应急预案与预警管理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535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自定义应急预案，接收风险预警通知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5303520" cy="105156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886199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404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心理健康知识库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专业心理健康文章与指导内容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749039"/>
            <a:ext cx="5303520" cy="105156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63640" y="3886199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404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通知设置与隐私管理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8795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自定义通知频率与内容，管理隐私授权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5029200"/>
            <a:ext cx="5303520" cy="914400"/>
          </a:xfrm>
          <a:prstGeom prst="roundRect">
            <a:avLst/>
          </a:prstGeom>
          <a:solidFill>
            <a:srgbClr val="FEF5E7"/>
          </a:solidFill>
          <a:ln w="6350">
            <a:solidFill>
              <a:srgbClr val="FBE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46120" y="5138928"/>
            <a:ext cx="274320" cy="27432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1023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孩子绑定与授权管理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4132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扫码绑定孩子账号，管理查看权限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风险检测与危机响应流程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RISK DETECTION &amp; CRISIS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15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920240" cy="137160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用户输入</a:t>
            </a:r>
          </a:p>
          <a:p>
            <a:pPr algn="ctr">
              <a:spcBef>
                <a:spcPts val="500"/>
              </a:spcBef>
              <a:defRPr sz="1000">
                <a:solidFill>
                  <a:srgbClr val="DDE4EE"/>
                </a:solidFill>
                <a:latin typeface="微软雅黑" panose="020B0503020204020204" charset="-122"/>
              </a:defRPr>
            </a:pPr>
            <a:r>
              <a:t>学生发送</a:t>
            </a:r>
            <a:br/>
            <a:r>
              <a:t>消息/打卡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1874519"/>
            <a:ext cx="27432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371600"/>
            <a:ext cx="1920240" cy="13716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L1 关键词检测</a:t>
            </a:r>
          </a:p>
          <a:p>
            <a:pPr algn="ctr">
              <a:spcBef>
                <a:spcPts val="500"/>
              </a:spcBef>
              <a:defRPr sz="1000">
                <a:solidFill>
                  <a:srgbClr val="DDE4EE"/>
                </a:solidFill>
                <a:latin typeface="微软雅黑" panose="020B0503020204020204" charset="-122"/>
              </a:defRPr>
            </a:pPr>
            <a:r>
              <a:t>关键词库</a:t>
            </a:r>
            <a:br/>
            <a:r>
              <a:t>快速匹配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80" y="1874519"/>
            <a:ext cx="27432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371600"/>
            <a:ext cx="1920240" cy="137160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L2 语义分析</a:t>
            </a:r>
          </a:p>
          <a:p>
            <a:pPr algn="ctr">
              <a:spcBef>
                <a:spcPts val="500"/>
              </a:spcBef>
              <a:defRPr sz="1000">
                <a:solidFill>
                  <a:srgbClr val="DDE4EE"/>
                </a:solidFill>
                <a:latin typeface="微软雅黑" panose="020B0503020204020204" charset="-122"/>
              </a:defRPr>
            </a:pPr>
            <a:r>
              <a:t>BERT模型</a:t>
            </a:r>
            <a:br/>
            <a:r>
              <a:t>深度语义理解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1874519"/>
            <a:ext cx="27432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59" y="1371600"/>
            <a:ext cx="1920240" cy="1371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风险分级</a:t>
            </a:r>
          </a:p>
          <a:p>
            <a:pPr algn="ctr">
              <a:spcBef>
                <a:spcPts val="500"/>
              </a:spcBef>
              <a:defRPr sz="1000">
                <a:solidFill>
                  <a:srgbClr val="DDE4EE"/>
                </a:solidFill>
                <a:latin typeface="微软雅黑" panose="020B0503020204020204" charset="-122"/>
              </a:defRPr>
            </a:pPr>
            <a:r>
              <a:t>三级风险</a:t>
            </a:r>
            <a:br/>
            <a:r>
              <a:t>等级判定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8319" y="1874519"/>
            <a:ext cx="274320" cy="27432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84080" y="1371600"/>
            <a:ext cx="192024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响应策略</a:t>
            </a:r>
          </a:p>
          <a:p>
            <a:pPr algn="ctr">
              <a:spcBef>
                <a:spcPts val="500"/>
              </a:spcBef>
              <a:defRPr sz="1000">
                <a:solidFill>
                  <a:srgbClr val="DDE4EE"/>
                </a:solidFill>
                <a:latin typeface="微软雅黑" panose="020B0503020204020204" charset="-122"/>
              </a:defRPr>
            </a:pPr>
            <a:r>
              <a:t>差异化</a:t>
            </a:r>
            <a:br/>
            <a:r>
              <a:t>干预措施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三级风险响应策略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4747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474720" cy="50292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L1 — 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正常 AI 对话继续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记录情绪数据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日常情绪引导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657600"/>
            <a:ext cx="34747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3657600"/>
            <a:ext cx="3474720" cy="50292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L2 — 中风险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976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AI 引导建议与资源推荐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通知教师关注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推荐测评与冥想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657600"/>
            <a:ext cx="34747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3657600"/>
            <a:ext cx="34747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L3 — 高风险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429768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即时教师告警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自动推送心理热线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启动应急预案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API 接口设计概览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API DESIGN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16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服务模块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主要端点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/api/v1/users/register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用户注册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/api/v1/users/{id}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获取用户信息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DELETE /api/v1/users/{id}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删除用户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心情服务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/api/v1/mood/checkin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心情打卡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/api/v1/mood/history/{userId}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心情历史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对话服务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/api/v1/chat/message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发送消息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WS /ws/chat/{userId}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WebSocket实时对话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测评服务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/api/v1/assessment/submit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提交测评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风险服务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/api/v1/risk/detect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风险检测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内容服务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/api/v1/content/meditations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  <a:latin typeface="微软雅黑" panose="020B0503020204020204" charset="-122"/>
                        </a:defRPr>
                      </a:pPr>
                      <a:r>
                        <a:t>冥想列表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280160"/>
            <a:ext cx="3200400" cy="457200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898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API 设计原则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RESTful 风格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统一 /api/v1/ 前缀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JSON 数据格式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JWT Bearer 认证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标准化错误响应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分页与过滤支持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WebSocket 实时通信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接口版本化管理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Swagger 文档生成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CORS 跨域配置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项目亮点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PROJECT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17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17320"/>
            <a:ext cx="868680" cy="86868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71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多端协同 · 家校共育闭环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37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学生/教师/家长三端联动，从情绪记录→AI疏导→风险预警→教师干预→家长关注，形成完整的心理健康守护闭环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112471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697480"/>
            <a:ext cx="868680" cy="86868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51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AI 驱动 · CBT + 双层风险检测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17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基于认知行为疗法（CBT）框架的AI对话，结合L1关键词+L2语义分析双层风险检测，保障对话安全边界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112471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977639"/>
            <a:ext cx="868680" cy="868680"/>
          </a:xfrm>
          <a:prstGeom prst="ellipse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3191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安全先行 · 端到端加密 + 多重合规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7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AES-256-GCM端到端加密 + SQLCipher本地加密 + 数据最小化采集，全面符合未成年人保护与AI服务管理法规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805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5257800"/>
            <a:ext cx="868680" cy="868680"/>
          </a:xfrm>
          <a:prstGeom prst="ellipse">
            <a:avLst/>
          </a:prstGeom>
          <a:solidFill>
            <a:srgbClr val="805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212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5AD8"/>
                </a:solidFill>
                <a:latin typeface="微软雅黑" panose="020B0503020204020204" charset="-122"/>
              </a:defRPr>
            </a:pPr>
            <a:r>
              <a:t>渐进式架构 · 技术栈平滑演进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577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从Go后端→Java Spring Boot迁移，从Flutter原生→React Web扩展，架构随业务需求渐进式演进，降低重构风险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技术难点与解决方案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18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难点 1：AI 对话安全边界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挑战：AI生成内容可能包含不当建议或忽略风险信号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lnSpc>
                <a:spcPts val="1600"/>
              </a:lnSpc>
              <a:spcBef>
                <a:spcPts val="200"/>
              </a:spcBef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双层风险检测（L1关键词+L2语义分析）+ 多层内容审核 + CBT框架约束 + 危机热线自动推送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3035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3035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难点 2：未成年人数据隐私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挑战：未成年人个人信息保护要求极高，数据泄露风险大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146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lnSpc>
                <a:spcPts val="1600"/>
              </a:lnSpc>
              <a:spcBef>
                <a:spcPts val="200"/>
              </a:spcBef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AES-256-GCM端到端加密 + SQLCipher本地加密 + 数据最小化采集 + 匿名注册 + 一键删除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53035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840479"/>
            <a:ext cx="53035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难点 3：多端状态同步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3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挑战：Flutter原生与React Web需实时同步对话与情绪状态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1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lnSpc>
                <a:spcPts val="1600"/>
              </a:lnSpc>
              <a:spcBef>
                <a:spcPts val="200"/>
              </a:spcBef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WebSocket实时通信 + Zustand状态管理 + REST API数据同步 + Redis会话缓存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840479"/>
            <a:ext cx="530352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79"/>
            <a:ext cx="530352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难点 4：后端技术栈迁移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3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挑战：从Python AI + Go API迁移至Java统一服务层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07491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lnSpc>
                <a:spcPts val="1600"/>
              </a:lnSpc>
              <a:spcBef>
                <a:spcPts val="200"/>
              </a:spcBef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渐进式迁移策略：先迁移API层至Spring Boot，再整合AI服务为Java服务层，保留Python引擎接口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工程角度难点分析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ENGINEERING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19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15087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1. 跨平台一致性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Flutter 与 React 双前端维护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两套前端代码库需要保持功能一致性和UI统一性，增加了维护成本。通过共用后端API、统一设计规范和类型定义（TypeScript类型共享），降低不一致风险。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38528"/>
            <a:ext cx="3931920" cy="548640"/>
          </a:xfrm>
          <a:prstGeom prst="roundRect">
            <a:avLst/>
          </a:prstGeom>
          <a:solidFill>
            <a:srgbClr val="EBF8F8"/>
          </a:solidFill>
          <a:ln w="12700">
            <a:solidFill>
              <a:srgbClr val="0D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000">
                <a:solidFill>
                  <a:srgbClr val="0D7C7C"/>
                </a:solidFill>
                <a:latin typeface="微软雅黑" panose="020B0503020204020204" charset="-122"/>
              </a:defRPr>
            </a:pPr>
            <a:r>
              <a:t>统一API契约 + 共享类型定义 + 设计系统规范化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800"/>
            <a:ext cx="11247120" cy="15087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44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2. AI 模型选型与微调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Qwen/DeepSeek 本地化 vs API 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30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本地部署需GPU资源投入但延迟低、数据不出境；API调用成本低但依赖外部服务。当前MVP阶段采用API调用快速验证，后续计划逐步迁移至本地微调模型。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630168"/>
            <a:ext cx="3931920" cy="548640"/>
          </a:xfrm>
          <a:prstGeom prst="roundRect">
            <a:avLst/>
          </a:prstGeom>
          <a:solidFill>
            <a:srgbClr val="EBF8F8"/>
          </a:solidFill>
          <a:ln w="12700">
            <a:solidFill>
              <a:srgbClr val="0D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000">
                <a:solidFill>
                  <a:srgbClr val="0D7C7C"/>
                </a:solidFill>
                <a:latin typeface="微软雅黑" panose="020B0503020204020204" charset="-122"/>
              </a:defRPr>
            </a:pPr>
            <a:r>
              <a:t>渐进式策略：API验证 → 本地微调 → 混合部署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150876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3. 消息队列可靠性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Kafka/RabbitMQ 高并发对话场景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218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在高并发AI对话场景下，消息队列需保障消息不丢失、顺序性和 Exactly-Once 语义。通过消息持久化、消费者确认机制和死信队列处理异常消息。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5321808"/>
            <a:ext cx="3931920" cy="548640"/>
          </a:xfrm>
          <a:prstGeom prst="roundRect">
            <a:avLst/>
          </a:prstGeom>
          <a:solidFill>
            <a:srgbClr val="EBF8F8"/>
          </a:solidFill>
          <a:ln w="12700">
            <a:solidFill>
              <a:srgbClr val="0D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000">
                <a:solidFill>
                  <a:srgbClr val="0D7C7C"/>
                </a:solidFill>
                <a:latin typeface="微软雅黑" panose="020B0503020204020204" charset="-122"/>
              </a:defRPr>
            </a:pPr>
            <a:r>
              <a:t>消息持久化 + ACK确认 + 死信队列 + 监控告警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测试方案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20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21945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单元测试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后端：JUnit 5 + Mockito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前端：Vitest + React Testing Library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覆盖率目标：核心模块 &gt; 80%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测试用例：Service层业务逻辑、工具类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303520" cy="21945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3035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集成测试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API 接口联调测试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WebSocket 连通性验证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数据库交互测试（H2内存库）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前后端联调：端到端场景验证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5303520" cy="21945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5303520" cy="50292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安全测试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399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加密验证：AES-256-GCM 加解密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权限边界：越权访问测试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注入防护：SQL注入/XSS测试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JWT 令牌：过期/伪造/重放测试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49039"/>
            <a:ext cx="5303520" cy="21945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805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3749039"/>
            <a:ext cx="5303520" cy="502920"/>
          </a:xfrm>
          <a:prstGeom prst="roundRect">
            <a:avLst/>
          </a:prstGeom>
          <a:solidFill>
            <a:srgbClr val="805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部署测试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43399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Docker Compose 编排验证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Kubernetes 集群部署测试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Nginx 反向代理配置验证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环境变量与配置一致性检查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部署方案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21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210312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容器化部署（Docker Compose）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Docker 多服务容器编排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docker-compose.yml 统一管理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服务：API + AI Engine + DB + Redis + Nginx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一键启动：docker-compose up -d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开发/测试环境快速部署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2103120"/>
          </a:xfrm>
          <a:prstGeom prst="roundRect">
            <a:avLst/>
          </a:prstGeom>
          <a:solidFill>
            <a:srgbClr val="EBF8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7C7C"/>
                </a:solidFill>
                <a:latin typeface="微软雅黑" panose="020B0503020204020204" charset="-122"/>
              </a:defRPr>
            </a:pPr>
            <a:r>
              <a:t>Kubernetes 集群部署（生产）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K8s 集群编排管理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Pod 自动伸缩（HPA）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滚动更新与回滚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ConfigMap/Secret 配置管理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生产环境高可用保障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CI/CD 持续集成与交付流程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554480" cy="64008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代码提交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057400" y="4389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40" y="4206240"/>
            <a:ext cx="1554480" cy="6400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分支管理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40" y="4389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1554480" cy="64008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自动构建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7880" y="4389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1554480" cy="640080"/>
          </a:xfrm>
          <a:prstGeom prst="roundRect">
            <a:avLst/>
          </a:prstGeom>
          <a:solidFill>
            <a:srgbClr val="805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测试验证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18120" y="4389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4206240"/>
            <a:ext cx="1554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部署 staging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38360" y="4389120"/>
            <a:ext cx="22860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0" y="4206240"/>
            <a:ext cx="1554480" cy="64008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生产发布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Git 分支管理规范</a:t>
            </a:r>
          </a:p>
          <a:p>
            <a:pPr>
              <a:lnSpc>
                <a:spcPts val="18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feat: 新功能  |  fix: 修复Bug  |  docs: 文档更新  |  refactor: 代码重构  |  style: 样式调整    →    Pull Request 审核合并至 main 分支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迭代路线图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ITERATION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22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8872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80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AI 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AI 模型升级（更大参数量）  |    多模态情绪识别（语音/表情）  |    个性化推荐算法优化  |    对话质量评估体系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1828800"/>
            <a:ext cx="27432" cy="7315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1188720" cy="5486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社交与游戏化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803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同伴互助社区（匿名）  |    游戏化激励机制  |    成就系统与勋章  |    情绪日记与成长档案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108960"/>
            <a:ext cx="27432" cy="7315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1188720" cy="54864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v2.2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7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数据与管理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6051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数据分析仪表盘  |    学校级管理后台  |    班级/年级维度分析  |    批量导入与导出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" y="4389119"/>
            <a:ext cx="27432" cy="7315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88720" cy="548640"/>
          </a:xfrm>
          <a:prstGeom prst="roundRect">
            <a:avLst/>
          </a:prstGeom>
          <a:solidFill>
            <a:srgbClr val="805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5AD8"/>
                </a:solidFill>
                <a:latin typeface="微软雅黑" panose="020B0503020204020204" charset="-122"/>
              </a:defRPr>
            </a:pPr>
            <a:r>
              <a:t>规模化与开放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40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  全国推广部署  |    多语言/多地区支持  |    开放 API 平台  |    第三方插件生态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长期愿景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t>LONG-TERM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23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产品愿景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成为中国青少年心理健康第一站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从校园场景出发，逐步覆盖全国青少年群体，打造最受信任的AI心理健康品牌，让每个孩子都能获得零压力的情绪支持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6CB0"/>
                </a:solidFill>
                <a:latin typeface="微软雅黑" panose="020B0503020204020204" charset="-122"/>
              </a:defRPr>
            </a:pPr>
            <a:r>
              <a:t>技术演进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从 MVP 验证到生态化平台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MVP 验证 → 规模化部署 → 数据驱动优化 → 开放API生态。持续探索多模态AI、个性化推荐、群体心理预警等前沿技术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8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7A25"/>
                </a:solidFill>
                <a:latin typeface="微软雅黑" panose="020B0503020204020204" charset="-122"/>
              </a:defRPr>
            </a:pPr>
            <a:r>
              <a:t>社会价值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降低心理求助门槛，构建守护网络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t>通过AI技术降低青少年心理求助门槛，构建学生-教师-家长-专业机构四级守护网络，为青少年心理健康保驾护航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未来发展计划</a:t>
            </a:r>
          </a:p>
          <a:p>
            <a:pPr>
              <a:defRPr sz="1300">
                <a:solidFill>
                  <a:srgbClr val="A0AEC0"/>
                </a:solidFill>
                <a:latin typeface="微软雅黑" panose="020B0503020204020204" charset="-122"/>
              </a:defRPr>
            </a:pPr>
            <a:r>
              <a:rPr lang="en-US"/>
              <a:t>FUTURE DEV-PLANNING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  <a:latin typeface="微软雅黑" panose="020B0503020204020204" charset="-122"/>
              </a:defRPr>
            </a:pPr>
            <a:r>
              <a:t>6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37160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step 1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81241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 lang="zh-CN" altLang="en-US"/>
              <a:t>完善和</a:t>
            </a:r>
            <a:r>
              <a:rPr lang="en-US" altLang="zh-CN"/>
              <a:t>AI Agent </a:t>
            </a:r>
            <a:r>
              <a:rPr lang="zh-CN" altLang="en-US"/>
              <a:t>的开发于</a:t>
            </a:r>
            <a:r>
              <a:rPr lang="zh-CN" altLang="en-US"/>
              <a:t>对接</a:t>
            </a:r>
            <a:endParaRPr lang="zh-CN" altLang="en-US"/>
          </a:p>
        </p:txBody>
      </p:sp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1216152" y="1920240"/>
            <a:ext cx="27432" cy="5943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548640" y="2514600"/>
            <a:ext cx="137160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step 2</a:t>
            </a:r>
            <a:endParaRPr lang="en-US"/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3474720" y="2514600"/>
            <a:ext cx="344297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 lang="zh-CN"/>
              <a:t>扩大测试的数据量，开始进行试点</a:t>
            </a:r>
            <a:r>
              <a:rPr lang="zh-CN"/>
              <a:t>测试</a:t>
            </a:r>
            <a:endParaRPr lang="zh-CN"/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3474720" y="2880360"/>
            <a:ext cx="7772400" cy="29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2D3748"/>
                </a:solidFill>
                <a:latin typeface="微软雅黑" panose="020B0503020204020204" charset="-122"/>
              </a:defRPr>
            </a:pPr>
            <a:r>
              <a:rPr lang="zh-CN"/>
              <a:t>与广宁县的一学校达成合作，并对其进行</a:t>
            </a:r>
            <a:r>
              <a:rPr lang="zh-CN"/>
              <a:t>测试</a:t>
            </a:r>
            <a:endParaRPr lang="zh-CN"/>
          </a:p>
        </p:txBody>
      </p:sp>
      <p:sp>
        <p:nvSpPr>
          <p:cNvPr id="16" name="Rectangle 15"/>
          <p:cNvSpPr/>
          <p:nvPr>
            <p:custDataLst>
              <p:tags r:id="rId5"/>
            </p:custDataLst>
          </p:nvPr>
        </p:nvSpPr>
        <p:spPr>
          <a:xfrm>
            <a:off x="1216152" y="3063240"/>
            <a:ext cx="27432" cy="5943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548640" y="3657600"/>
            <a:ext cx="1371600" cy="54864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step 3</a:t>
            </a:r>
            <a:endParaRPr lang="en-US"/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3474720" y="3657600"/>
            <a:ext cx="325120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 lang="zh-CN"/>
              <a:t>扩大测试范围，并进行服务器的</a:t>
            </a:r>
            <a:r>
              <a:rPr lang="zh-CN"/>
              <a:t>设置</a:t>
            </a:r>
            <a:endParaRPr lang="zh-CN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1216152" y="4206240"/>
            <a:ext cx="27432" cy="5943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>
            <p:custDataLst>
              <p:tags r:id="rId9"/>
            </p:custDataLst>
          </p:nvPr>
        </p:nvSpPr>
        <p:spPr>
          <a:xfrm>
            <a:off x="548640" y="4800600"/>
            <a:ext cx="1371600" cy="548640"/>
          </a:xfrm>
          <a:prstGeom prst="roundRect">
            <a:avLst/>
          </a:prstGeom>
          <a:solidFill>
            <a:srgbClr val="E8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26" name="TextBox 25"/>
          <p:cNvSpPr txBox="1"/>
          <p:nvPr/>
        </p:nvSpPr>
        <p:spPr>
          <a:xfrm>
            <a:off x="3488690" y="5943600"/>
            <a:ext cx="490982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rPr lang="en-US" sz="2800"/>
              <a:t>way is long,but hope is real.</a:t>
            </a:r>
            <a:endParaRPr lang="en-US"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182CE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DC4E8"/>
                </a:solidFill>
                <a:latin typeface="微软雅黑" panose="020B0503020204020204" charset="-122"/>
              </a:defRPr>
            </a:pPr>
            <a:r>
              <a:t>「你的情绪星球，永远亮着灯」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1128" y="4572000"/>
            <a:ext cx="6819265" cy="13989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8099B0"/>
                </a:solidFill>
                <a:latin typeface="微软雅黑" panose="020B0503020204020204" charset="-122"/>
              </a:defRPr>
            </a:pPr>
            <a:r>
              <a:t>项目名称：星屿 StarIsle — 青少年心理健康 AI 陪伴应用</a:t>
            </a:r>
          </a:p>
          <a:p>
            <a:pPr algn="ctr">
              <a:spcAft>
                <a:spcPts val="600"/>
              </a:spcAft>
              <a:defRPr sz="1400">
                <a:solidFill>
                  <a:srgbClr val="8099B0"/>
                </a:solidFill>
                <a:latin typeface="微软雅黑" panose="020B0503020204020204" charset="-122"/>
              </a:defRPr>
            </a:pPr>
            <a:r>
              <a:t>版本：MVP v1.3</a:t>
            </a:r>
          </a:p>
          <a:p>
            <a:pPr algn="ctr">
              <a:spcAft>
                <a:spcPts val="600"/>
              </a:spcAft>
              <a:defRPr sz="1400">
                <a:solidFill>
                  <a:srgbClr val="8099B0"/>
                </a:solidFill>
                <a:latin typeface="微软雅黑" panose="020B0503020204020204" charset="-122"/>
              </a:defRPr>
            </a:pPr>
            <a:r>
              <a:t>GitHub：https://github.com/user-unknowed/-StarIsle-</a:t>
            </a:r>
          </a:p>
          <a:p>
            <a:pPr algn="ctr">
              <a:defRPr sz="1400">
                <a:solidFill>
                  <a:srgbClr val="607088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8099B0"/>
                </a:solidFill>
                <a:sym typeface="+mn-ea"/>
              </a:rPr>
              <a:t>报告小组：CS-1组 报告人：陈尹涛  |  学号：2540144243  |  指导老师：陈文渊老师</a:t>
            </a:r>
            <a:endParaRPr>
              <a:solidFill>
                <a:srgbClr val="8099B0"/>
              </a:solidFill>
              <a:sym typeface="+mn-ea"/>
            </a:endParaRPr>
          </a:p>
          <a:p>
            <a:pPr algn="ctr">
              <a:defRPr sz="1400">
                <a:solidFill>
                  <a:srgbClr val="607088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8099B0"/>
                </a:solidFill>
                <a:sym typeface="+mn-ea"/>
              </a:rPr>
              <a:t> 2026.07</a:t>
            </a:r>
            <a:endParaRPr>
              <a:solidFill>
                <a:srgbClr val="8099B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2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3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4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5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6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7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8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9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0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1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2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3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4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5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6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7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8.xml><?xml version="1.0" encoding="utf-8"?>
<p:tagLst xmlns:p="http://schemas.openxmlformats.org/presentationml/2006/main">
  <p:tag name="KSO_WM_DIAGRAM_VIRTUALLY_FRAME" val="{&quot;height&quot;:380.16,&quot;left&quot;:86.4,&quot;top&quot;:108,&quot;width&quot;:720}"/>
</p:tagLst>
</file>

<file path=ppt/tags/tag19.xml><?xml version="1.0" encoding="utf-8"?>
<p:tagLst xmlns:p="http://schemas.openxmlformats.org/presentationml/2006/main">
  <p:tag name="KSO_WM_DIAGRAM_VIRTUALLY_FRAME" val="{&quot;height&quot;:187.2,&quot;left&quot;:36,&quot;top&quot;:100.8,&quot;width&quot;:871.2}"/>
</p:tagLst>
</file>

<file path=ppt/tags/tag20.xml><?xml version="1.0" encoding="utf-8"?>
<p:tagLst xmlns:p="http://schemas.openxmlformats.org/presentationml/2006/main">
  <p:tag name="KSO_WM_DIAGRAM_VIRTUALLY_FRAME" val="{&quot;height&quot;:187.2,&quot;left&quot;:36,&quot;top&quot;:100.8,&quot;width&quot;:871.2}"/>
</p:tagLst>
</file>

<file path=ppt/tags/tag21.xml><?xml version="1.0" encoding="utf-8"?>
<p:tagLst xmlns:p="http://schemas.openxmlformats.org/presentationml/2006/main">
  <p:tag name="KSO_WM_DIAGRAM_VIRTUALLY_FRAME" val="{&quot;height&quot;:187.2,&quot;left&quot;:36,&quot;top&quot;:100.8,&quot;width&quot;:871.2}"/>
</p:tagLst>
</file>

<file path=ppt/tags/tag22.xml><?xml version="1.0" encoding="utf-8"?>
<p:tagLst xmlns:p="http://schemas.openxmlformats.org/presentationml/2006/main">
  <p:tag name="KSO_WM_DIAGRAM_VIRTUALLY_FRAME" val="{&quot;height&quot;:187.2,&quot;left&quot;:36,&quot;top&quot;:100.8,&quot;width&quot;:871.2}"/>
</p:tagLst>
</file>

<file path=ppt/tags/tag23.xml><?xml version="1.0" encoding="utf-8"?>
<p:tagLst xmlns:p="http://schemas.openxmlformats.org/presentationml/2006/main">
  <p:tag name="KSO_WM_DIAGRAM_VIRTUALLY_FRAME" val="{&quot;height&quot;:187.2,&quot;left&quot;:36,&quot;top&quot;:100.8,&quot;width&quot;:871.2}"/>
</p:tagLst>
</file>

<file path=ppt/tags/tag24.xml><?xml version="1.0" encoding="utf-8"?>
<p:tagLst xmlns:p="http://schemas.openxmlformats.org/presentationml/2006/main">
  <p:tag name="KSO_WM_DIAGRAM_VIRTUALLY_FRAME" val="{&quot;height&quot;:187.2,&quot;left&quot;:36,&quot;top&quot;:100.8,&quot;width&quot;:871.2}"/>
</p:tagLst>
</file>

<file path=ppt/tags/tag25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26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27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28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29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0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1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2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3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4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5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6.xml><?xml version="1.0" encoding="utf-8"?>
<p:tagLst xmlns:p="http://schemas.openxmlformats.org/presentationml/2006/main">
  <p:tag name="KSO_WM_DIAGRAM_VIRTUALLY_FRAME" val="{&quot;height&quot;:252,&quot;left&quot;:36,&quot;top&quot;:100.8,&quot;width&quot;:878.4}"/>
</p:tagLst>
</file>

<file path=ppt/tags/tag37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38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39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0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1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2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3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4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5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6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7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8.xml><?xml version="1.0" encoding="utf-8"?>
<p:tagLst xmlns:p="http://schemas.openxmlformats.org/presentationml/2006/main">
  <p:tag name="KSO_WM_DIAGRAM_VIRTUALLY_FRAME" val="{&quot;height&quot;:352.8,&quot;left&quot;:36,&quot;top&quot;:100.8,&quot;width&quot;:864}"/>
</p:tagLst>
</file>

<file path=ppt/tags/tag49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0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1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2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3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4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5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6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ags/tag57.xml><?xml version="1.0" encoding="utf-8"?>
<p:tagLst xmlns:p="http://schemas.openxmlformats.org/presentationml/2006/main">
  <p:tag name="KSO_WM_DIAGRAM_VIRTUALLY_FRAME" val="{&quot;height&quot;:306,&quot;left&quot;:43.2,&quot;top&quot;:136.8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WPS 演示</Application>
  <PresentationFormat>On-screen Show (4:3)</PresentationFormat>
  <Paragraphs>890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Mr.TNT</cp:lastModifiedBy>
  <cp:revision>13</cp:revision>
  <dcterms:created xsi:type="dcterms:W3CDTF">2013-01-27T09:14:00Z</dcterms:created>
  <dcterms:modified xsi:type="dcterms:W3CDTF">2026-07-17T09:04:56Z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5597434BD0B0497A97F173C5B100C22E_12</vt:lpwstr>
  </property>
</Properties>
</file>